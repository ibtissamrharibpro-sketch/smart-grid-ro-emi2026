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2" r:id="rId7"/>
    <p:sldId id="263" r:id="rId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1" d="100"/>
          <a:sy n="91" d="100"/>
        </p:scale>
        <p:origin x="78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503115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Welcome. Introduce yourself and the project topic. Mention the link to Morocco's National Electromobility Strategy.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Highlight the scale of the challenge. Morocco is investing heavily in renewables (Noor Ouarzazate, Jbel Khalladi wind farm) — the grid must evolve too.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that once the network is a graph, all the power of Operations Research applies directly — distances become costs, lines become edges with capacities.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Briefly explain each algorithm. Focus on WHY each one is relevant to electric grids specifically — not just abstract theory.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the pipeline: we start with a rough solution (NW), improve it (Least Cost), then optimize globally (Simplex). This mirrors real-world energy dispatching practices.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the app live if possible. Highlight that data is fully random — the user sets the number of nodes and density, and the app generates and solves automatically.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Summarize: the project proves that Operations Research is not just theory — it delivers measurable gains on real infrastructure. Open for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jpe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5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-12636"/>
            <a:ext cx="9144000" cy="975462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/>
          <a:lstStyle/>
          <a:p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Grid Optimization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457200" y="205740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Electric Mobility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914400" y="2788920"/>
            <a:ext cx="7315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A0C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Intelligent Energy Distribution &amp; Management Network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200400" y="3291840"/>
            <a:ext cx="2743200" cy="3657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3474720"/>
            <a:ext cx="2377440" cy="822960"/>
          </a:xfrm>
          <a:prstGeom prst="roundRect">
            <a:avLst>
              <a:gd name="adj" fmla="val 8889"/>
            </a:avLst>
          </a:prstGeom>
          <a:solidFill>
            <a:srgbClr val="0234A5">
              <a:alpha val="50000"/>
            </a:srgbClr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352044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40080" y="379476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Ibtissam Rharib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91840" y="3474720"/>
            <a:ext cx="2377440" cy="822960"/>
          </a:xfrm>
          <a:prstGeom prst="roundRect">
            <a:avLst>
              <a:gd name="adj" fmla="val 8889"/>
            </a:avLst>
          </a:prstGeom>
          <a:solidFill>
            <a:srgbClr val="0234A5">
              <a:alpha val="50000"/>
            </a:srgbClr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91840" y="352044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291840" y="379476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EL MKHALET MOUNA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943600" y="3474720"/>
            <a:ext cx="2377440" cy="822960"/>
          </a:xfrm>
          <a:prstGeom prst="roundRect">
            <a:avLst>
              <a:gd name="adj" fmla="val 8889"/>
            </a:avLst>
          </a:prstGeom>
          <a:solidFill>
            <a:srgbClr val="0234A5">
              <a:alpha val="50000"/>
            </a:srgbClr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43600" y="352044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5943600" y="379476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 – 2026</a:t>
            </a:r>
            <a:endParaRPr lang="en-US" sz="1100" dirty="0"/>
          </a:p>
        </p:txBody>
      </p:sp>
      <p:pic>
        <p:nvPicPr>
          <p:cNvPr id="1026" name="Picture 2" descr="Site web officiel de l'EMI">
            <a:extLst>
              <a:ext uri="{FF2B5EF4-FFF2-40B4-BE49-F238E27FC236}">
                <a16:creationId xmlns:a16="http://schemas.microsoft.com/office/drawing/2014/main" id="{5B97E10A-7763-C32B-3DAE-DA8B90D118E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32320" y="44886"/>
            <a:ext cx="1619165" cy="8692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Concours Université Mohammed V 2025 (27 Postes) - Dreamjob.ma">
            <a:extLst>
              <a:ext uri="{FF2B5EF4-FFF2-40B4-BE49-F238E27FC236}">
                <a16:creationId xmlns:a16="http://schemas.microsoft.com/office/drawing/2014/main" id="{A4213646-15ED-8EDE-57C0-66F50779DCF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9636" y="12640"/>
            <a:ext cx="1619164" cy="847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436778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Does This Matter?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960120"/>
            <a:ext cx="4572000" cy="22315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spcAft>
                <a:spcPts val="800"/>
              </a:spcAft>
              <a:buNone/>
            </a:pPr>
            <a:r>
              <a:rPr lang="en-US" sz="1300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Morocco's electric vehicle fleet is growing rapidly. Traditional power grids were not designed for the sudden, simultaneous charging demand this creates. Without intelligent optimization, the result is:</a:t>
            </a:r>
            <a:endParaRPr lang="en-US" sz="1300" dirty="0"/>
          </a:p>
          <a:p>
            <a:pPr marL="0" indent="0" algn="l">
              <a:spcAft>
                <a:spcPts val="800"/>
              </a:spcAft>
              <a:buNone/>
            </a:pPr>
            <a:r>
              <a:rPr lang="en-US" sz="1300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Grid overload during peak hours</a:t>
            </a:r>
            <a:endParaRPr lang="en-US" sz="1300" dirty="0"/>
          </a:p>
          <a:p>
            <a:pPr marL="0" indent="0" algn="l">
              <a:spcAft>
                <a:spcPts val="800"/>
              </a:spcAft>
              <a:buNone/>
            </a:pPr>
            <a:r>
              <a:rPr lang="en-US" sz="1300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High infrastructure costs</a:t>
            </a:r>
            <a:endParaRPr lang="en-US" sz="1300" dirty="0"/>
          </a:p>
          <a:p>
            <a:pPr marL="0" indent="0" algn="l">
              <a:spcAft>
                <a:spcPts val="800"/>
              </a:spcAft>
              <a:buNone/>
            </a:pPr>
            <a:r>
              <a:rPr lang="en-US" sz="1300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Unequal energy distribution</a:t>
            </a:r>
            <a:endParaRPr lang="en-US" sz="1300" dirty="0"/>
          </a:p>
          <a:p>
            <a:pPr marL="0" indent="0" algn="l">
              <a:spcAft>
                <a:spcPts val="800"/>
              </a:spcAft>
              <a:buNone/>
            </a:pPr>
            <a:r>
              <a:rPr lang="en-US" sz="1300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Bottlenecks in key urban zones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669280" y="222026"/>
            <a:ext cx="3017520" cy="804672"/>
          </a:xfrm>
          <a:prstGeom prst="roundRect">
            <a:avLst>
              <a:gd name="adj" fmla="val 11364"/>
            </a:avLst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5669280" y="306004"/>
            <a:ext cx="3017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~2,500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5669280" y="713999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0C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EVs in Morocco (2024)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669280" y="1161886"/>
            <a:ext cx="3017520" cy="804672"/>
          </a:xfrm>
          <a:prstGeom prst="roundRect">
            <a:avLst>
              <a:gd name="adj" fmla="val 11364"/>
            </a:avLst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669280" y="1278809"/>
            <a:ext cx="3017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50,000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5669280" y="1687873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0C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Projected EVs by 2030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669280" y="2101746"/>
            <a:ext cx="3017520" cy="804672"/>
          </a:xfrm>
          <a:prstGeom prst="roundRect">
            <a:avLst>
              <a:gd name="adj" fmla="val 11364"/>
            </a:avLst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669280" y="2220452"/>
            <a:ext cx="3017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52%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5669280" y="2632098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0C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Renewable target by 2030</a:t>
            </a:r>
            <a:endParaRPr lang="en-US" sz="1100" dirty="0"/>
          </a:p>
        </p:txBody>
      </p:sp>
      <p:pic>
        <p:nvPicPr>
          <p:cNvPr id="2052" name="Picture 4" descr="Close-up of a branded Tesla Supercharger station in the sunlit parking area of the Sofitel Marrakech, Morocco, showcasing the reliable EV infrastructure available for sustainable photography expeditions.">
            <a:extLst>
              <a:ext uri="{FF2B5EF4-FFF2-40B4-BE49-F238E27FC236}">
                <a16:creationId xmlns:a16="http://schemas.microsoft.com/office/drawing/2014/main" id="{76D8870D-3E23-FD72-B556-136A6FA043E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16142" y="3258976"/>
            <a:ext cx="1108842" cy="14784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6" name="Picture 8" descr="tesla supercharger agadir morocco">
            <a:extLst>
              <a:ext uri="{FF2B5EF4-FFF2-40B4-BE49-F238E27FC236}">
                <a16:creationId xmlns:a16="http://schemas.microsoft.com/office/drawing/2014/main" id="{5431F67B-9D6F-20A5-219D-7A0F26A5280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1219" y="3278964"/>
            <a:ext cx="1944624" cy="14584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5B91A970-4328-AC81-AEFF-A15BB3102E7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95778" y="3109169"/>
            <a:ext cx="2442394" cy="1628263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A32860D6-C464-B63C-2E7C-1EE31C686504}"/>
              </a:ext>
            </a:extLst>
          </p:cNvPr>
          <p:cNvSpPr txBox="1"/>
          <p:nvPr/>
        </p:nvSpPr>
        <p:spPr>
          <a:xfrm>
            <a:off x="3298250" y="4760337"/>
            <a:ext cx="2033751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b="1" i="0" dirty="0">
                <a:solidFill>
                  <a:srgbClr val="222222"/>
                </a:solidFill>
                <a:effectLst/>
                <a:latin typeface="Times New Roman" panose="02020603050405020304" pitchFamily="18" charset="0"/>
              </a:rPr>
              <a:t>Tesla supercharger in Marrakech </a:t>
            </a:r>
            <a:endParaRPr lang="en-US" sz="1000" b="1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65D9CE7-02EE-D1D1-9134-4386513C3E15}"/>
              </a:ext>
            </a:extLst>
          </p:cNvPr>
          <p:cNvSpPr txBox="1"/>
          <p:nvPr/>
        </p:nvSpPr>
        <p:spPr>
          <a:xfrm>
            <a:off x="6100099" y="4749844"/>
            <a:ext cx="2033752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b="1" i="0" dirty="0">
                <a:solidFill>
                  <a:srgbClr val="222222"/>
                </a:solidFill>
                <a:effectLst/>
                <a:latin typeface="Times New Roman" panose="02020603050405020304" pitchFamily="18" charset="0"/>
              </a:rPr>
              <a:t>Tesla supercharger in Tangier</a:t>
            </a:r>
            <a:r>
              <a:rPr lang="en-US" sz="1000" b="0" i="0" dirty="0">
                <a:solidFill>
                  <a:srgbClr val="222222"/>
                </a:solidFill>
                <a:effectLst/>
                <a:latin typeface="Times New Roman" panose="02020603050405020304" pitchFamily="18" charset="0"/>
              </a:rPr>
              <a:t> </a:t>
            </a:r>
            <a:endParaRPr lang="en-US" sz="1000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B48D6483-B92E-8B73-926C-38A523051DA8}"/>
              </a:ext>
            </a:extLst>
          </p:cNvPr>
          <p:cNvSpPr txBox="1"/>
          <p:nvPr/>
        </p:nvSpPr>
        <p:spPr>
          <a:xfrm>
            <a:off x="457200" y="4737432"/>
            <a:ext cx="2743200" cy="2469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b="1" i="1" dirty="0">
                <a:solidFill>
                  <a:srgbClr val="222222"/>
                </a:solidFill>
                <a:effectLst/>
                <a:latin typeface="Times New Roman" panose="02020603050405020304" pitchFamily="18" charset="0"/>
              </a:rPr>
              <a:t>Tesla Model X in Agadir at the Supercharger</a:t>
            </a:r>
            <a:r>
              <a:rPr lang="en-US" sz="1000" b="0" i="0" dirty="0">
                <a:solidFill>
                  <a:srgbClr val="222222"/>
                </a:solidFill>
                <a:effectLst/>
                <a:latin typeface="Times New Roman" panose="02020603050405020304" pitchFamily="18" charset="0"/>
              </a:rPr>
              <a:t> 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Approach: Modeling the Grid as a Graph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represent the entire energy network as a weighted graph G = (V, E, W), where each component becomes a node and each power line becomes an edge.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274319" y="1417319"/>
            <a:ext cx="1875571" cy="2587121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25400">
            <a:solidFill>
              <a:srgbClr val="B8860B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74320" y="1508760"/>
            <a:ext cx="1965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⚡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274320" y="2029968"/>
            <a:ext cx="1965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 Sources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74320" y="2377440"/>
            <a:ext cx="1965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Solar, wind, national grid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423160" y="1417320"/>
            <a:ext cx="1875571" cy="2587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25400">
            <a:solidFill>
              <a:srgbClr val="02809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423160" y="1508760"/>
            <a:ext cx="1965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🔄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2423160" y="2029968"/>
            <a:ext cx="1965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Substations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423160" y="2377440"/>
            <a:ext cx="1965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HV / MV / LV transformers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0" y="1417320"/>
            <a:ext cx="1875571" cy="2587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25400">
            <a:solidFill>
              <a:srgbClr val="0234A5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572000" y="1508760"/>
            <a:ext cx="1965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🔌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4572000" y="2029968"/>
            <a:ext cx="1965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234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Charging Stations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0" y="2377440"/>
            <a:ext cx="1965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&amp; semi-fast chargers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720840" y="1417319"/>
            <a:ext cx="1875571" cy="2587121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25400">
            <a:solidFill>
              <a:srgbClr val="1B6B3A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720840" y="1508760"/>
            <a:ext cx="1965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🏙️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6720840" y="2029968"/>
            <a:ext cx="1965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6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 Zones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720840" y="2377440"/>
            <a:ext cx="1965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Residential &amp; commercial areas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25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 Algorithms in Action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228600" y="868680"/>
            <a:ext cx="2697480" cy="1600200"/>
          </a:xfrm>
          <a:prstGeom prst="roundRect">
            <a:avLst>
              <a:gd name="adj" fmla="val 6857"/>
            </a:avLst>
          </a:prstGeom>
          <a:solidFill>
            <a:srgbClr val="1E3A5F"/>
          </a:solidFill>
          <a:ln w="25400">
            <a:solidFill>
              <a:srgbClr val="0D9488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228600" y="960120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Welsh-Powell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228600" y="1307592"/>
            <a:ext cx="2697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A0C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Charging Slot Planning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320040" y="1581912"/>
            <a:ext cx="25146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Colors conflicting stations into non-overlapping time slots to avoid substation overload.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3127248" y="868680"/>
            <a:ext cx="2697480" cy="1600200"/>
          </a:xfrm>
          <a:prstGeom prst="roundRect">
            <a:avLst>
              <a:gd name="adj" fmla="val 6857"/>
            </a:avLst>
          </a:prstGeom>
          <a:solidFill>
            <a:srgbClr val="1E3A5F"/>
          </a:solidFill>
          <a:ln w="25400">
            <a:solidFill>
              <a:srgbClr val="2563EB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127248" y="960120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Kruskal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127248" y="1307592"/>
            <a:ext cx="2697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A0C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Minimum Cost Network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218688" y="1581912"/>
            <a:ext cx="25146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Builds the minimum spanning tree — connects all nodes with the lowest possible cabling cost.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6025896" y="868680"/>
            <a:ext cx="2697480" cy="1600200"/>
          </a:xfrm>
          <a:prstGeom prst="roundRect">
            <a:avLst>
              <a:gd name="adj" fmla="val 6857"/>
            </a:avLst>
          </a:prstGeom>
          <a:solidFill>
            <a:srgbClr val="1E3A5F"/>
          </a:solidFill>
          <a:ln w="25400">
            <a:solidFill>
              <a:srgbClr val="16A34A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025896" y="960120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Dijkstra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025896" y="1307592"/>
            <a:ext cx="2697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A0C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Cheapest Energy Path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117336" y="1581912"/>
            <a:ext cx="25146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Finds the least-cost route from each energy source to every charging station.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228600" y="2697480"/>
            <a:ext cx="2697480" cy="1600200"/>
          </a:xfrm>
          <a:prstGeom prst="roundRect">
            <a:avLst>
              <a:gd name="adj" fmla="val 6857"/>
            </a:avLst>
          </a:prstGeom>
          <a:solidFill>
            <a:srgbClr val="1E3A5F"/>
          </a:solidFill>
          <a:ln w="25400">
            <a:solidFill>
              <a:srgbClr val="D97706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228600" y="2788920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Bellman-Ford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228600" y="3136392"/>
            <a:ext cx="2697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A0C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 Cost Networks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20040" y="3410712"/>
            <a:ext cx="25146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Handles subsidized tariffs and detects negative-cost cycles in the energy network.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127248" y="2697480"/>
            <a:ext cx="2697480" cy="1600200"/>
          </a:xfrm>
          <a:prstGeom prst="roundRect">
            <a:avLst>
              <a:gd name="adj" fmla="val 6857"/>
            </a:avLst>
          </a:prstGeom>
          <a:solidFill>
            <a:srgbClr val="1E3A5F"/>
          </a:solidFill>
          <a:ln w="25400">
            <a:solidFill>
              <a:srgbClr val="9333EA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127248" y="2788920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933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Ford-Fulkerson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3127248" y="3136392"/>
            <a:ext cx="2697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A0C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Maximum Power Flow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218688" y="3410712"/>
            <a:ext cx="25146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Calculates the maximum power that can flow from sources to all chargers simultaneously.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Routing to Optimization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Transport algorithms and linear programming complete the optimization pipeline.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65760" y="1280160"/>
            <a:ext cx="2560320" cy="201168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31750">
            <a:solidFill>
              <a:srgbClr val="B8860B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137160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365760" y="1645920"/>
            <a:ext cx="25603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North-West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75488" y="2148840"/>
            <a:ext cx="2340864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 feasible allocation of energy flows from sources to substations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017520" y="2084832"/>
            <a:ext cx="20116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3200400" y="1280160"/>
            <a:ext cx="2560320" cy="201168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31750">
            <a:solidFill>
              <a:srgbClr val="02809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200400" y="137160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200400" y="1645920"/>
            <a:ext cx="25603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Least Cost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310128" y="2148840"/>
            <a:ext cx="2340864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Improved starting solution — assigns flows to cheapest routes first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852160" y="2084832"/>
            <a:ext cx="20116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6035040" y="1280160"/>
            <a:ext cx="2560320" cy="201168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31750">
            <a:solidFill>
              <a:srgbClr val="0234A5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035040" y="137160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234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035040" y="1645920"/>
            <a:ext cx="25603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Simplex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144768" y="2148840"/>
            <a:ext cx="2340864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optimal solution under all capacity and demand constraints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520440"/>
            <a:ext cx="8412480" cy="1325880"/>
          </a:xfrm>
          <a:prstGeom prst="roundRect">
            <a:avLst>
              <a:gd name="adj" fmla="val 6897"/>
            </a:avLst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548640" y="3639312"/>
            <a:ext cx="8046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The Simplex method converges in 8 iterations to an optimal cost Z* = 1,247 units — a 14% reduction compared to the North-West initial solution.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25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Desktop Application — Built in Python (Tkinter)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1005840"/>
            <a:ext cx="3840480" cy="893242"/>
          </a:xfrm>
          <a:prstGeom prst="roundRect">
            <a:avLst>
              <a:gd name="adj" fmla="val 8276"/>
            </a:avLst>
          </a:prstGeom>
          <a:solidFill>
            <a:srgbClr val="1E3A5F"/>
          </a:solidFill>
          <a:ln w="12700">
            <a:solidFill>
              <a:srgbClr val="3B82F6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365760" y="1115568"/>
            <a:ext cx="594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🎲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960120" y="1115568"/>
            <a:ext cx="3154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Graph Generation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60120" y="1269997"/>
            <a:ext cx="3154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Configurable: 3 nodes, 10–100% density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709160" y="1005840"/>
            <a:ext cx="3703320" cy="893242"/>
          </a:xfrm>
          <a:prstGeom prst="roundRect">
            <a:avLst>
              <a:gd name="adj" fmla="val 8276"/>
            </a:avLst>
          </a:prstGeom>
          <a:solidFill>
            <a:srgbClr val="1E3A5F"/>
          </a:solidFill>
          <a:ln w="12700">
            <a:solidFill>
              <a:srgbClr val="3B82F6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572000" y="1115568"/>
            <a:ext cx="594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📊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5166360" y="1115568"/>
            <a:ext cx="3154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Graph Visualization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166360" y="1304722"/>
            <a:ext cx="3154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Canvas-rendered with color-coded paths &amp; weights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65760" y="2079266"/>
            <a:ext cx="3840480" cy="890657"/>
          </a:xfrm>
          <a:prstGeom prst="roundRect">
            <a:avLst>
              <a:gd name="adj" fmla="val 8276"/>
            </a:avLst>
          </a:prstGeom>
          <a:solidFill>
            <a:srgbClr val="1E3A5F"/>
          </a:solidFill>
          <a:ln w="12700">
            <a:solidFill>
              <a:srgbClr val="3B82F6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65760" y="2120367"/>
            <a:ext cx="594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⚙️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960120" y="2224719"/>
            <a:ext cx="3154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Algorithms Integrated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960120" y="2326107"/>
            <a:ext cx="3154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OR methods with step-by-step output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640580" y="2121408"/>
            <a:ext cx="3840480" cy="868680"/>
          </a:xfrm>
          <a:prstGeom prst="roundRect">
            <a:avLst>
              <a:gd name="adj" fmla="val 8276"/>
            </a:avLst>
          </a:prstGeom>
          <a:solidFill>
            <a:srgbClr val="1E3A5F"/>
          </a:solidFill>
          <a:ln w="12700">
            <a:solidFill>
              <a:srgbClr val="3B82F6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640580" y="2067395"/>
            <a:ext cx="594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🖥️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5166360" y="2204555"/>
            <a:ext cx="3154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Executable (.exe)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166360" y="2397520"/>
            <a:ext cx="3154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Compiled desktop app, no Python install needed</a:t>
            </a:r>
            <a:endParaRPr lang="en-US" sz="1100" dirty="0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3DEBC3B1-C524-4D66-5B22-6A16EFA90A0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39195"/>
          <a:stretch>
            <a:fillRect/>
          </a:stretch>
        </p:blipFill>
        <p:spPr>
          <a:xfrm>
            <a:off x="365761" y="3291005"/>
            <a:ext cx="4869180" cy="1664591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9EC581BD-E3B1-089E-CE5F-A0B940547BC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20342" y="3291005"/>
            <a:ext cx="2960718" cy="1664591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25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36576" cy="347472"/>
          </a:xfrm>
          <a:prstGeom prst="rect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0" y="868680"/>
            <a:ext cx="4937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 modeling enables rigorous OR methods on complex real-world networks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536192"/>
            <a:ext cx="36576" cy="347472"/>
          </a:xfrm>
          <a:prstGeom prst="rect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536192"/>
            <a:ext cx="4937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31% infrastructure savings achieved through Kruskal's MST on the Casablanca network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2203704"/>
            <a:ext cx="36576" cy="347472"/>
          </a:xfrm>
          <a:prstGeom prst="rect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2203704"/>
            <a:ext cx="4937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14% operational cost reduction via Simplex linear programming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2871216"/>
            <a:ext cx="36576" cy="347472"/>
          </a:xfrm>
          <a:prstGeom prst="rect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2871216"/>
            <a:ext cx="4937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Ford-Fulkerson identified the critical bottleneck limiting city-wide EV charging capacity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3538728"/>
            <a:ext cx="36576" cy="347472"/>
          </a:xfrm>
          <a:prstGeom prst="rect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5800" y="3538728"/>
            <a:ext cx="4937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integrated desktop application makes these tools accessible and demonstrable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760720" y="731520"/>
            <a:ext cx="3108960" cy="3657600"/>
          </a:xfrm>
          <a:prstGeom prst="roundRect">
            <a:avLst>
              <a:gd name="adj" fmla="val 3529"/>
            </a:avLst>
          </a:prstGeom>
          <a:solidFill>
            <a:srgbClr val="1E3A5F"/>
          </a:solidFill>
          <a:ln w="12700">
            <a:solidFill>
              <a:srgbClr val="3B82F6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760720" y="822960"/>
            <a:ext cx="3108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Work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943600" y="1298448"/>
            <a:ext cx="2743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Real-time SCADA data integration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943600" y="1810512"/>
            <a:ext cx="2743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Dynamic pricing (time-of-use tariffs)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943600" y="2322576"/>
            <a:ext cx="2743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Genetic algorithms for larger networks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943600" y="2834640"/>
            <a:ext cx="2743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Extension to national ONEE grid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943600" y="3346704"/>
            <a:ext cx="2743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V2G (vehicle-to-grid) modeling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57200" y="429768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A0C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for your attention.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213</TotalTime>
  <Words>713</Words>
  <Application>Microsoft Office PowerPoint</Application>
  <PresentationFormat>On-screen Show (16:9)</PresentationFormat>
  <Paragraphs>112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Smart Grid Optimization for Electric Mobility</dc:title>
  <dc:subject>PptxGenJS Presentation</dc:subject>
  <dc:creator>Ibtissam Rharib</dc:creator>
  <cp:lastModifiedBy>ibtissam rharib</cp:lastModifiedBy>
  <cp:revision>2</cp:revision>
  <dcterms:created xsi:type="dcterms:W3CDTF">2026-06-11T18:11:26Z</dcterms:created>
  <dcterms:modified xsi:type="dcterms:W3CDTF">2026-06-11T21:50:12Z</dcterms:modified>
</cp:coreProperties>
</file>